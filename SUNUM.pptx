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22"/>
  </p:notesMasterIdLst>
  <p:sldIdLst>
    <p:sldId id="256" r:id="rId2"/>
    <p:sldId id="257" r:id="rId3"/>
    <p:sldId id="260" r:id="rId4"/>
    <p:sldId id="263" r:id="rId5"/>
    <p:sldId id="281" r:id="rId6"/>
    <p:sldId id="264" r:id="rId7"/>
    <p:sldId id="265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1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1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20303-A7F5-4E52-8E4F-15027C91529E}" type="datetimeFigureOut">
              <a:rPr lang="tr-TR" smtClean="0"/>
              <a:t>16.12.2025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D4EDA4-A6EE-4833-ACEF-AA9B6136408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5820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EDA4-A6EE-4833-ACEF-AA9B61364080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75004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505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33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473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22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6999"/>
            <a:ext cx="5157787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183188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876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382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46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0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76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59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632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12/16/2025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271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27" r:id="rId8"/>
    <p:sldLayoutId id="2147483728" r:id="rId9"/>
    <p:sldLayoutId id="2147483729" r:id="rId10"/>
    <p:sldLayoutId id="214748373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729F2144-48B7-4730-955E-365ECED3A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E765FF50-D2F9-4A4F-86ED-F101E172B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F42B85FE-56F3-283A-15CF-F68FF7B31217}"/>
              </a:ext>
            </a:extLst>
          </p:cNvPr>
          <p:cNvSpPr txBox="1"/>
          <p:nvPr/>
        </p:nvSpPr>
        <p:spPr>
          <a:xfrm>
            <a:off x="5301395" y="1138519"/>
            <a:ext cx="6800030" cy="381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İstanbul Konut Piyasasında Fiyat Tahmini ve Değer Analizi</a:t>
            </a:r>
          </a:p>
        </p:txBody>
      </p:sp>
      <p:pic>
        <p:nvPicPr>
          <p:cNvPr id="1026" name="Picture 2" descr="grafik, yazı tipi, metin, logo içeren bir resim&#10;&#10;Açıklama otomatik olarak oluşturuldu">
            <a:extLst>
              <a:ext uri="{FF2B5EF4-FFF2-40B4-BE49-F238E27FC236}">
                <a16:creationId xmlns:a16="http://schemas.microsoft.com/office/drawing/2014/main" id="{CC3310D2-6566-073E-C9C4-099B26BE09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9" t="25412" r="11675" b="25528"/>
          <a:stretch/>
        </p:blipFill>
        <p:spPr bwMode="auto">
          <a:xfrm>
            <a:off x="281353" y="1446963"/>
            <a:ext cx="4741737" cy="2793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04D834C7-8223-43DA-AA30-E15A1BC7B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93812"/>
            <a:ext cx="12192000" cy="1164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B62DE6C5-8EB8-4E41-B0FF-93563AA4C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1" y="5693811"/>
            <a:ext cx="12191999" cy="1164188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128D2FB3-3862-A0A4-CBE3-0FE58428038D}"/>
              </a:ext>
            </a:extLst>
          </p:cNvPr>
          <p:cNvSpPr txBox="1"/>
          <p:nvPr/>
        </p:nvSpPr>
        <p:spPr>
          <a:xfrm>
            <a:off x="8908296" y="5809373"/>
            <a:ext cx="2934906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>
                <a:solidFill>
                  <a:schemeClr val="bg1"/>
                </a:solidFill>
              </a:rPr>
              <a:t>Enes Burak Korkmaz    234210052</a:t>
            </a:r>
          </a:p>
          <a:p>
            <a:r>
              <a:rPr lang="tr-TR" sz="1400" dirty="0">
                <a:solidFill>
                  <a:schemeClr val="bg1"/>
                </a:solidFill>
              </a:rPr>
              <a:t>Metehan Kendirlioğlu 234210045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32220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66BF35-FE0A-4893-29B9-925102E13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0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9" name="Rectangle 1032">
            <a:extLst>
              <a:ext uri="{FF2B5EF4-FFF2-40B4-BE49-F238E27FC236}">
                <a16:creationId xmlns:a16="http://schemas.microsoft.com/office/drawing/2014/main" id="{8DBEE602-02D2-420A-AFC1-438A1699A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DF4CF28-8FFF-749B-6D5F-A89B603FED77}"/>
              </a:ext>
            </a:extLst>
          </p:cNvPr>
          <p:cNvSpPr txBox="1"/>
          <p:nvPr/>
        </p:nvSpPr>
        <p:spPr>
          <a:xfrm>
            <a:off x="591471" y="1600099"/>
            <a:ext cx="7436828" cy="7140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120000"/>
              </a:lnSpc>
            </a:pPr>
            <a:endParaRPr lang="tr-TR" sz="2000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2D89B72-2C3E-FB7B-FDCC-A4924702D4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75" b="3"/>
          <a:stretch/>
        </p:blipFill>
        <p:spPr bwMode="auto">
          <a:xfrm>
            <a:off x="10118690" y="-580406"/>
            <a:ext cx="1925989" cy="218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034">
            <a:extLst>
              <a:ext uri="{FF2B5EF4-FFF2-40B4-BE49-F238E27FC236}">
                <a16:creationId xmlns:a16="http://schemas.microsoft.com/office/drawing/2014/main" id="{B3FAB79E-1E1B-4287-B4EA-26E497404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22256D1-A993-4D2E-943C-2E87F8BFC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48C77CC1-C047-4E78-E426-8F671C6BF123}"/>
              </a:ext>
            </a:extLst>
          </p:cNvPr>
          <p:cNvSpPr txBox="1"/>
          <p:nvPr/>
        </p:nvSpPr>
        <p:spPr>
          <a:xfrm>
            <a:off x="591471" y="658318"/>
            <a:ext cx="6942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solidFill>
                  <a:schemeClr val="tx2"/>
                </a:solidFill>
                <a:latin typeface="+mj-lt"/>
              </a:rPr>
              <a:t>Projenin Amacı ve Kapsamı</a:t>
            </a:r>
            <a:endParaRPr lang="tr-TR" sz="3200" b="1" dirty="0">
              <a:solidFill>
                <a:schemeClr val="tx2"/>
              </a:solidFill>
            </a:endParaRP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8294FC72-79E8-D009-3F45-CB045C4922D6}"/>
              </a:ext>
            </a:extLst>
          </p:cNvPr>
          <p:cNvSpPr txBox="1"/>
          <p:nvPr/>
        </p:nvSpPr>
        <p:spPr>
          <a:xfrm>
            <a:off x="710452" y="1600099"/>
            <a:ext cx="864870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b="1" dirty="0"/>
              <a:t>Amaç: </a:t>
            </a:r>
            <a:r>
              <a:rPr lang="tr-TR" sz="2000" dirty="0"/>
              <a:t>İstanbul emlak piyasasındaki fiyat belirsizliğini çözmek ve kullanıcıya gerçekçi fiyat tahminleri sunmak.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b="1" dirty="0"/>
              <a:t>Problem: </a:t>
            </a:r>
            <a:r>
              <a:rPr lang="tr-TR" sz="2000" dirty="0"/>
              <a:t>Konut fiyatlarının sadece m²'ye bağlı olmaması; konum, bina yaşı, lüks özellikler gibi karmaşık faktörlerin fiyatı etkilemesi.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b="1" dirty="0"/>
              <a:t>Çözüm: </a:t>
            </a:r>
            <a:r>
              <a:rPr lang="tr-TR" sz="2000" dirty="0"/>
              <a:t>Geçmiş satış verilerini analiz ederek öğrenen ve geleceği tahmin eden bir Yapay Zeka sistemi geliştirmek.</a:t>
            </a:r>
          </a:p>
        </p:txBody>
      </p:sp>
    </p:spTree>
    <p:extLst>
      <p:ext uri="{BB962C8B-B14F-4D97-AF65-F5344CB8AC3E}">
        <p14:creationId xmlns:p14="http://schemas.microsoft.com/office/powerpoint/2010/main" val="1356559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B622D4-A802-24CD-D454-E92497D25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0">
            <a:extLst>
              <a:ext uri="{FF2B5EF4-FFF2-40B4-BE49-F238E27FC236}">
                <a16:creationId xmlns:a16="http://schemas.microsoft.com/office/drawing/2014/main" id="{B7A71240-7F14-E709-09D4-DC5F1C9B7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9" name="Rectangle 1032">
            <a:extLst>
              <a:ext uri="{FF2B5EF4-FFF2-40B4-BE49-F238E27FC236}">
                <a16:creationId xmlns:a16="http://schemas.microsoft.com/office/drawing/2014/main" id="{1207BFEE-35CB-4A34-C22F-1F064117B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A21176E6-3927-A82D-A766-FFE8293DAA89}"/>
              </a:ext>
            </a:extLst>
          </p:cNvPr>
          <p:cNvSpPr txBox="1"/>
          <p:nvPr/>
        </p:nvSpPr>
        <p:spPr>
          <a:xfrm>
            <a:off x="1703834" y="1469985"/>
            <a:ext cx="8778210" cy="38160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120000"/>
              </a:lnSpc>
            </a:pPr>
            <a:endParaRPr lang="tr-TR" sz="2600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010E54-B582-C293-0A90-067C62CCCA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75" b="3"/>
          <a:stretch/>
        </p:blipFill>
        <p:spPr bwMode="auto">
          <a:xfrm>
            <a:off x="10118690" y="-580406"/>
            <a:ext cx="1925989" cy="218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034">
            <a:extLst>
              <a:ext uri="{FF2B5EF4-FFF2-40B4-BE49-F238E27FC236}">
                <a16:creationId xmlns:a16="http://schemas.microsoft.com/office/drawing/2014/main" id="{7A3F4A0D-18B4-4086-B20E-CA2880191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156B0B25-2005-E65D-1D2D-3C4D01E26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5ECAF86A-86A0-2CF1-27FB-31D5F61FA10C}"/>
              </a:ext>
            </a:extLst>
          </p:cNvPr>
          <p:cNvSpPr txBox="1"/>
          <p:nvPr/>
        </p:nvSpPr>
        <p:spPr>
          <a:xfrm>
            <a:off x="614620" y="509846"/>
            <a:ext cx="82514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solidFill>
                  <a:schemeClr val="tx2"/>
                </a:solidFill>
                <a:latin typeface="+mj-lt"/>
              </a:rPr>
              <a:t>Kullanılan Kütüphaneler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A9C7BDA6-8584-8024-04A7-3BE0962A83D1}"/>
              </a:ext>
            </a:extLst>
          </p:cNvPr>
          <p:cNvSpPr txBox="1"/>
          <p:nvPr/>
        </p:nvSpPr>
        <p:spPr>
          <a:xfrm>
            <a:off x="614620" y="1177400"/>
            <a:ext cx="986742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b="1" dirty="0"/>
              <a:t>Pandas &amp; NumPy: </a:t>
            </a:r>
            <a:r>
              <a:rPr lang="tr-TR" sz="2000" dirty="0"/>
              <a:t>Büyük veri setini işlemek, temizlemek ve matematiksel hesaplamalar yapmak için.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b="1" dirty="0"/>
              <a:t>Scikit-Learn (Sklearn): </a:t>
            </a:r>
            <a:r>
              <a:rPr lang="tr-TR" sz="2000" dirty="0"/>
              <a:t>Yapay zeka modellerini (Random Forest, Linear Regression) kurmak ve eğitmek için.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b="1" dirty="0"/>
              <a:t>Streamlit: </a:t>
            </a:r>
            <a:r>
              <a:rPr lang="tr-TR" sz="2000" dirty="0"/>
              <a:t>Python kodunu interaktif bir web uygulamasına dönüştürmek için.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b="1" dirty="0"/>
              <a:t>Plotly:</a:t>
            </a:r>
            <a:r>
              <a:rPr lang="tr-TR" sz="2000" dirty="0"/>
              <a:t> Verileri görselleştirmek (grafikler, ısı haritaları) için.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b="1" dirty="0"/>
              <a:t>Folium: </a:t>
            </a:r>
            <a:r>
              <a:rPr lang="tr-TR" sz="2000" dirty="0"/>
              <a:t>Harita tabanlı coğrafi analiz (CBS) yapmak için.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b="1" dirty="0"/>
              <a:t>Json: </a:t>
            </a:r>
            <a:r>
              <a:rPr lang="tr-TR" sz="2000" dirty="0"/>
              <a:t>Harita dosyasını işlemek için</a:t>
            </a:r>
            <a:endParaRPr lang="tr-TR" sz="2000" b="1" dirty="0"/>
          </a:p>
        </p:txBody>
      </p:sp>
    </p:spTree>
    <p:extLst>
      <p:ext uri="{BB962C8B-B14F-4D97-AF65-F5344CB8AC3E}">
        <p14:creationId xmlns:p14="http://schemas.microsoft.com/office/powerpoint/2010/main" val="605477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109D4B-666E-D345-2BC9-A5D6AEAF1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0">
            <a:extLst>
              <a:ext uri="{FF2B5EF4-FFF2-40B4-BE49-F238E27FC236}">
                <a16:creationId xmlns:a16="http://schemas.microsoft.com/office/drawing/2014/main" id="{1460C223-6B11-97A8-5ED1-B115A11DE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9" name="Rectangle 1032">
            <a:extLst>
              <a:ext uri="{FF2B5EF4-FFF2-40B4-BE49-F238E27FC236}">
                <a16:creationId xmlns:a16="http://schemas.microsoft.com/office/drawing/2014/main" id="{BF351E43-A581-057C-9CE8-B37174F6D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15BE653-7F46-6CF3-D3E5-92C1243DC9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75" b="3"/>
          <a:stretch/>
        </p:blipFill>
        <p:spPr bwMode="auto">
          <a:xfrm>
            <a:off x="10118690" y="-580406"/>
            <a:ext cx="1925989" cy="218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034">
            <a:extLst>
              <a:ext uri="{FF2B5EF4-FFF2-40B4-BE49-F238E27FC236}">
                <a16:creationId xmlns:a16="http://schemas.microsoft.com/office/drawing/2014/main" id="{DCB5227B-27B9-6F26-07D8-3DA2462BB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F263F0C-CAA0-02A2-A332-34E018167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F0000245-74F3-33B5-0FE0-AE08EA2661ED}"/>
              </a:ext>
            </a:extLst>
          </p:cNvPr>
          <p:cNvSpPr txBox="1"/>
          <p:nvPr/>
        </p:nvSpPr>
        <p:spPr>
          <a:xfrm>
            <a:off x="383127" y="475682"/>
            <a:ext cx="86801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>
                <a:solidFill>
                  <a:schemeClr val="tx2"/>
                </a:solidFill>
                <a:latin typeface="+mj-lt"/>
              </a:rPr>
              <a:t>Veri Ön İşleme (Data Preprocessing)</a:t>
            </a:r>
            <a:endParaRPr lang="tr-TR" sz="3200" b="1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7" name="Resim 6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8D7419B-0619-5B2F-480B-83C32E877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22" y="1330263"/>
            <a:ext cx="10936941" cy="3070286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F0610E02-D682-06A7-776B-8A05AA552164}"/>
              </a:ext>
            </a:extLst>
          </p:cNvPr>
          <p:cNvSpPr txBox="1"/>
          <p:nvPr/>
        </p:nvSpPr>
        <p:spPr>
          <a:xfrm>
            <a:off x="462922" y="4595036"/>
            <a:ext cx="98051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"3.500.000 TL" gibi metin tabanlı fiyatlar sayısal veriye çevrildi.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"3+1", "Stüdyo" gibi oda sayıları matematiksel formata (4, 1) dönüştürüldü.</a:t>
            </a:r>
          </a:p>
        </p:txBody>
      </p:sp>
    </p:spTree>
    <p:extLst>
      <p:ext uri="{BB962C8B-B14F-4D97-AF65-F5344CB8AC3E}">
        <p14:creationId xmlns:p14="http://schemas.microsoft.com/office/powerpoint/2010/main" val="2627016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41A4E7-384C-483C-13E6-C20C3CFED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0">
            <a:extLst>
              <a:ext uri="{FF2B5EF4-FFF2-40B4-BE49-F238E27FC236}">
                <a16:creationId xmlns:a16="http://schemas.microsoft.com/office/drawing/2014/main" id="{0A976CCC-D595-78E4-B5B5-3AAB2766F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9" name="Rectangle 1032">
            <a:extLst>
              <a:ext uri="{FF2B5EF4-FFF2-40B4-BE49-F238E27FC236}">
                <a16:creationId xmlns:a16="http://schemas.microsoft.com/office/drawing/2014/main" id="{F681B81A-7C5D-1D77-098E-02590E41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2F0A529-4B04-41D6-0976-9737DD27D3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75" b="3"/>
          <a:stretch/>
        </p:blipFill>
        <p:spPr bwMode="auto">
          <a:xfrm>
            <a:off x="10118690" y="-580406"/>
            <a:ext cx="1925989" cy="218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034">
            <a:extLst>
              <a:ext uri="{FF2B5EF4-FFF2-40B4-BE49-F238E27FC236}">
                <a16:creationId xmlns:a16="http://schemas.microsoft.com/office/drawing/2014/main" id="{19504351-94E7-B4E3-931F-B9650D742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2856EFE2-B0DF-0AE1-D5F2-C34D99C2D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979289C0-2B89-45C2-1768-A4237BA68204}"/>
              </a:ext>
            </a:extLst>
          </p:cNvPr>
          <p:cNvSpPr txBox="1"/>
          <p:nvPr/>
        </p:nvSpPr>
        <p:spPr>
          <a:xfrm>
            <a:off x="383127" y="219016"/>
            <a:ext cx="86801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>
                <a:solidFill>
                  <a:schemeClr val="tx2"/>
                </a:solidFill>
                <a:latin typeface="+mj-lt"/>
              </a:rPr>
              <a:t>Aykırı Değer (Outlier) Temizliği:</a:t>
            </a:r>
          </a:p>
        </p:txBody>
      </p:sp>
      <p:pic>
        <p:nvPicPr>
          <p:cNvPr id="4" name="Resim 3" descr="çizgi, diyagram, ekran görüntüsü, öykü gelişim çizgisi; kumpas; grafiğini çıkarm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A9600EB-21B9-CEB0-CFC2-DDECD36ED8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85"/>
          <a:stretch>
            <a:fillRect/>
          </a:stretch>
        </p:blipFill>
        <p:spPr>
          <a:xfrm>
            <a:off x="5971802" y="1038570"/>
            <a:ext cx="5109882" cy="3378323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013EDC1C-CB14-9219-9286-DB042B9E7940}"/>
              </a:ext>
            </a:extLst>
          </p:cNvPr>
          <p:cNvSpPr txBox="1"/>
          <p:nvPr/>
        </p:nvSpPr>
        <p:spPr>
          <a:xfrm>
            <a:off x="567568" y="4475929"/>
            <a:ext cx="110507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Yöntem:</a:t>
            </a:r>
            <a:r>
              <a:rPr lang="tr-TR" dirty="0"/>
              <a:t> IQR (Interquartile Range) ve Yüzdelik Dilimler kullanıldı.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İşlem:</a:t>
            </a:r>
            <a:r>
              <a:rPr lang="tr-TR" dirty="0"/>
              <a:t> Fiyatı veya metrekaresi mantıksız derecede düşük/yüksek olan (Örn: 1 TL veya 500 Milyon TL) hatalı veriler veri setinden atıldı.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Sonuç:</a:t>
            </a:r>
            <a:r>
              <a:rPr lang="tr-TR" dirty="0"/>
              <a:t> Modelin sapması engellendi, daha kararlı hale getirildi.</a:t>
            </a:r>
          </a:p>
        </p:txBody>
      </p:sp>
      <p:pic>
        <p:nvPicPr>
          <p:cNvPr id="8" name="Resim 7" descr="çizgi, diyagram, ekran görüntüsü, öykü gelişim çizgisi; kumpas; grafiğini çıkarm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A519241-7C7D-D09E-257F-5AEA30C411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9131"/>
          <a:stretch>
            <a:fillRect/>
          </a:stretch>
        </p:blipFill>
        <p:spPr>
          <a:xfrm>
            <a:off x="444250" y="1043052"/>
            <a:ext cx="5207501" cy="337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993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275B07-FD7D-255F-9C68-5C7F0F759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0">
            <a:extLst>
              <a:ext uri="{FF2B5EF4-FFF2-40B4-BE49-F238E27FC236}">
                <a16:creationId xmlns:a16="http://schemas.microsoft.com/office/drawing/2014/main" id="{6761094A-8FFE-0791-975E-892F12A3A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9" name="Rectangle 1032">
            <a:extLst>
              <a:ext uri="{FF2B5EF4-FFF2-40B4-BE49-F238E27FC236}">
                <a16:creationId xmlns:a16="http://schemas.microsoft.com/office/drawing/2014/main" id="{A6FD5F1C-E1B8-C406-079A-0594CCCCF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9209A40-02F1-F03A-1BF7-D7A0F2B315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75" b="3"/>
          <a:stretch/>
        </p:blipFill>
        <p:spPr bwMode="auto">
          <a:xfrm>
            <a:off x="10118690" y="-580406"/>
            <a:ext cx="1925989" cy="218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034">
            <a:extLst>
              <a:ext uri="{FF2B5EF4-FFF2-40B4-BE49-F238E27FC236}">
                <a16:creationId xmlns:a16="http://schemas.microsoft.com/office/drawing/2014/main" id="{63CAFF37-80CF-7965-F77F-F0BA6BF22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BA260EB-E3D5-4B5F-D43E-C143485A3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5D40F1DA-5A7D-AEE4-F44C-924228E474E7}"/>
              </a:ext>
            </a:extLst>
          </p:cNvPr>
          <p:cNvSpPr txBox="1"/>
          <p:nvPr/>
        </p:nvSpPr>
        <p:spPr>
          <a:xfrm>
            <a:off x="596688" y="377150"/>
            <a:ext cx="6942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solidFill>
                  <a:schemeClr val="tx2"/>
                </a:solidFill>
                <a:latin typeface="+mj-lt"/>
              </a:rPr>
              <a:t>Segmentasyon ve Skorlama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80999E18-E6DB-B87C-A65F-9C735E9A61F5}"/>
              </a:ext>
            </a:extLst>
          </p:cNvPr>
          <p:cNvSpPr txBox="1"/>
          <p:nvPr/>
        </p:nvSpPr>
        <p:spPr>
          <a:xfrm>
            <a:off x="596688" y="1260021"/>
            <a:ext cx="95189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/>
              <a:t>Lüks Skoru (Luxury Score):</a:t>
            </a:r>
            <a:r>
              <a:rPr lang="tr-TR" dirty="0"/>
              <a:t> Havuz, güvenlik, sauna gibi özellikler toplanarak her eve bir "Lüks Puanı" verildi.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1050BA01-4BEB-A470-3CBF-294DE7610ACC}"/>
              </a:ext>
            </a:extLst>
          </p:cNvPr>
          <p:cNvSpPr txBox="1"/>
          <p:nvPr/>
        </p:nvSpPr>
        <p:spPr>
          <a:xfrm>
            <a:off x="596688" y="2136698"/>
            <a:ext cx="95189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/>
              <a:t>Ulaşım Skoru:</a:t>
            </a:r>
            <a:r>
              <a:rPr lang="tr-TR" dirty="0"/>
              <a:t> Metro, Metrobüs, Marmaray yakınlığı analiz edilerek "Ulaşım Puanı" oluşturuldu.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5E4F79F5-6BEA-D740-4CC2-1BED56A577CF}"/>
              </a:ext>
            </a:extLst>
          </p:cNvPr>
          <p:cNvSpPr txBox="1"/>
          <p:nvPr/>
        </p:nvSpPr>
        <p:spPr>
          <a:xfrm>
            <a:off x="596688" y="2921895"/>
            <a:ext cx="95189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/>
              <a:t>Segmentasyon:</a:t>
            </a:r>
            <a:r>
              <a:rPr lang="tr-TR" dirty="0"/>
              <a:t> Evler sınıflandırma modeli için fiyatlarına göre "Ekonomik", "Standart" ve "Lüks" olarak 3 sınıfa ayrıldı.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D4F66396-D2D0-CD83-FFF5-7485C73CFA91}"/>
              </a:ext>
            </a:extLst>
          </p:cNvPr>
          <p:cNvSpPr txBox="1"/>
          <p:nvPr/>
        </p:nvSpPr>
        <p:spPr>
          <a:xfrm>
            <a:off x="596688" y="3724912"/>
            <a:ext cx="103402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/>
              <a:t>İlçe ve Mahalle Değerlendirmesi:</a:t>
            </a:r>
            <a:r>
              <a:rPr lang="tr-TR" dirty="0"/>
              <a:t> "Beşiktaş", "Kadıköy" gibi metin tabanlı ilçe isimlerini, o ilçenin ortalama m² fiyatına dönüştürerek modele sayısal bir girdi sağladık. Her bir ilçenin mahallenin bir değer skoru oldu.</a:t>
            </a:r>
          </a:p>
        </p:txBody>
      </p:sp>
    </p:spTree>
    <p:extLst>
      <p:ext uri="{BB962C8B-B14F-4D97-AF65-F5344CB8AC3E}">
        <p14:creationId xmlns:p14="http://schemas.microsoft.com/office/powerpoint/2010/main" val="1797090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0DFA06-50A9-2080-8CBE-EC6B3C122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0">
            <a:extLst>
              <a:ext uri="{FF2B5EF4-FFF2-40B4-BE49-F238E27FC236}">
                <a16:creationId xmlns:a16="http://schemas.microsoft.com/office/drawing/2014/main" id="{78BA47B9-ABD4-93CC-6B7F-CE3305046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9" name="Rectangle 1032">
            <a:extLst>
              <a:ext uri="{FF2B5EF4-FFF2-40B4-BE49-F238E27FC236}">
                <a16:creationId xmlns:a16="http://schemas.microsoft.com/office/drawing/2014/main" id="{FCB1DA28-798A-88D5-2053-EA4EDC289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60B8FE8-BDAD-51CE-D8A4-56B21FE259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75" b="3"/>
          <a:stretch/>
        </p:blipFill>
        <p:spPr bwMode="auto">
          <a:xfrm>
            <a:off x="10118690" y="-580406"/>
            <a:ext cx="1925989" cy="218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034">
            <a:extLst>
              <a:ext uri="{FF2B5EF4-FFF2-40B4-BE49-F238E27FC236}">
                <a16:creationId xmlns:a16="http://schemas.microsoft.com/office/drawing/2014/main" id="{D187AE5C-F14A-984C-A782-A540A2E3F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4C283D19-B985-BBCA-0717-9DEFADB26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Resim 7" descr="ekran görüntüsü, metin, kare, dikdörtge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8C19B5F-27FA-6BC6-1DFD-3493B63BC9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772" y="871818"/>
            <a:ext cx="6935086" cy="5548070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39E8694B-40E7-FD7E-9FAB-5FB2C877E1FF}"/>
              </a:ext>
            </a:extLst>
          </p:cNvPr>
          <p:cNvSpPr txBox="1"/>
          <p:nvPr/>
        </p:nvSpPr>
        <p:spPr>
          <a:xfrm>
            <a:off x="331693" y="217458"/>
            <a:ext cx="6942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solidFill>
                  <a:schemeClr val="tx2"/>
                </a:solidFill>
                <a:latin typeface="+mj-lt"/>
              </a:rPr>
              <a:t>Korelasyon Matrisi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271F716E-C90E-B1D2-31F9-26A1F0AE1F48}"/>
              </a:ext>
            </a:extLst>
          </p:cNvPr>
          <p:cNvSpPr txBox="1"/>
          <p:nvPr/>
        </p:nvSpPr>
        <p:spPr>
          <a:xfrm>
            <a:off x="7720952" y="1059909"/>
            <a:ext cx="402089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+mj-lt"/>
              </a:rPr>
              <a:t>Değişkenler arasındaki ilişkiyi incelendi.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+mj-lt"/>
              </a:rPr>
              <a:t>Koyu kırmızı alanlar, Konum (District_Value) ve Metrekare (Net_Area) özelliklerinin fiyatla en güçlü pozitif ilişkiye sahip olduğunu gösteriyor.</a:t>
            </a:r>
          </a:p>
        </p:txBody>
      </p:sp>
    </p:spTree>
    <p:extLst>
      <p:ext uri="{BB962C8B-B14F-4D97-AF65-F5344CB8AC3E}">
        <p14:creationId xmlns:p14="http://schemas.microsoft.com/office/powerpoint/2010/main" val="320946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29E8B0-6AF4-7A1E-4EAE-C41C27D41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0">
            <a:extLst>
              <a:ext uri="{FF2B5EF4-FFF2-40B4-BE49-F238E27FC236}">
                <a16:creationId xmlns:a16="http://schemas.microsoft.com/office/drawing/2014/main" id="{0B1E2C3F-BEB4-C38E-AF8E-D051B18C4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9" name="Rectangle 1032">
            <a:extLst>
              <a:ext uri="{FF2B5EF4-FFF2-40B4-BE49-F238E27FC236}">
                <a16:creationId xmlns:a16="http://schemas.microsoft.com/office/drawing/2014/main" id="{8F99D0CC-1DC7-1D64-5C00-EBBFE9FE8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77D2FE-A6BB-5913-97AE-FEA49973E2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75" b="3"/>
          <a:stretch/>
        </p:blipFill>
        <p:spPr bwMode="auto">
          <a:xfrm>
            <a:off x="10118690" y="-580406"/>
            <a:ext cx="1925989" cy="218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034">
            <a:extLst>
              <a:ext uri="{FF2B5EF4-FFF2-40B4-BE49-F238E27FC236}">
                <a16:creationId xmlns:a16="http://schemas.microsoft.com/office/drawing/2014/main" id="{D119DA01-8EFC-68BA-2FFD-F7C46E31E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0C7DFB02-EBD6-F54B-87BA-258693BF6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169348D8-04A6-083A-2AC1-7610E7CFF64F}"/>
              </a:ext>
            </a:extLst>
          </p:cNvPr>
          <p:cNvSpPr txBox="1"/>
          <p:nvPr/>
        </p:nvSpPr>
        <p:spPr>
          <a:xfrm>
            <a:off x="331693" y="217458"/>
            <a:ext cx="6942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solidFill>
                  <a:schemeClr val="tx2"/>
                </a:solidFill>
                <a:latin typeface="+mj-lt"/>
              </a:rPr>
              <a:t>Fiyat Dağılımı:</a:t>
            </a:r>
          </a:p>
        </p:txBody>
      </p:sp>
      <p:pic>
        <p:nvPicPr>
          <p:cNvPr id="3" name="Resim 2" descr="metin, diyagram, öykü gelişim çizgisi; kumpas; grafiğini çıkarma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58557AC-E4BD-B754-C434-F84B397B98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121" y="1290805"/>
            <a:ext cx="10699473" cy="5349737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4DA27309-4ECF-8A01-5714-0E52C4BBD57C}"/>
              </a:ext>
            </a:extLst>
          </p:cNvPr>
          <p:cNvSpPr txBox="1"/>
          <p:nvPr/>
        </p:nvSpPr>
        <p:spPr>
          <a:xfrm>
            <a:off x="301335" y="802233"/>
            <a:ext cx="10554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Çoğu ev orta segmentte yer alırken, lüks evlerin sayısı daha azdır.</a:t>
            </a:r>
          </a:p>
        </p:txBody>
      </p:sp>
    </p:spTree>
    <p:extLst>
      <p:ext uri="{BB962C8B-B14F-4D97-AF65-F5344CB8AC3E}">
        <p14:creationId xmlns:p14="http://schemas.microsoft.com/office/powerpoint/2010/main" val="229543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CB2764-023A-FEF8-48C9-AF0A5EFA4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0">
            <a:extLst>
              <a:ext uri="{FF2B5EF4-FFF2-40B4-BE49-F238E27FC236}">
                <a16:creationId xmlns:a16="http://schemas.microsoft.com/office/drawing/2014/main" id="{B13FCD11-BE90-41AC-4E2D-AEE73CFFC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9" name="Rectangle 1032">
            <a:extLst>
              <a:ext uri="{FF2B5EF4-FFF2-40B4-BE49-F238E27FC236}">
                <a16:creationId xmlns:a16="http://schemas.microsoft.com/office/drawing/2014/main" id="{170A3107-E51B-430B-D4B0-73FEACEE3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0A3668F-3CAF-93C3-CBA0-EADADD8462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75" b="3"/>
          <a:stretch/>
        </p:blipFill>
        <p:spPr bwMode="auto">
          <a:xfrm>
            <a:off x="10118690" y="-580406"/>
            <a:ext cx="1925989" cy="218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034">
            <a:extLst>
              <a:ext uri="{FF2B5EF4-FFF2-40B4-BE49-F238E27FC236}">
                <a16:creationId xmlns:a16="http://schemas.microsoft.com/office/drawing/2014/main" id="{2F928676-552F-9510-6A1B-812ED4D79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69A00640-A056-EE3C-9291-B8843AB0F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82CD24A7-18A8-DA49-1866-8ED7BB48F1F5}"/>
              </a:ext>
            </a:extLst>
          </p:cNvPr>
          <p:cNvSpPr txBox="1"/>
          <p:nvPr/>
        </p:nvSpPr>
        <p:spPr>
          <a:xfrm>
            <a:off x="331693" y="217458"/>
            <a:ext cx="6942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solidFill>
                  <a:schemeClr val="tx2"/>
                </a:solidFill>
                <a:latin typeface="+mj-lt"/>
              </a:rPr>
              <a:t>En Pahalı 10 İlçe</a:t>
            </a:r>
          </a:p>
        </p:txBody>
      </p:sp>
      <p:pic>
        <p:nvPicPr>
          <p:cNvPr id="4" name="Resim 3" descr="metin, ekran görüntüsü, yazı tipi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293C7EA-F0C9-3D75-8552-8CDC60208F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68" y="1019691"/>
            <a:ext cx="11142542" cy="557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043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07ECFA-2C37-8BE7-D309-CE29055E0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0">
            <a:extLst>
              <a:ext uri="{FF2B5EF4-FFF2-40B4-BE49-F238E27FC236}">
                <a16:creationId xmlns:a16="http://schemas.microsoft.com/office/drawing/2014/main" id="{AA86B952-A9AC-61D1-B888-70228ED2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9" name="Rectangle 1032">
            <a:extLst>
              <a:ext uri="{FF2B5EF4-FFF2-40B4-BE49-F238E27FC236}">
                <a16:creationId xmlns:a16="http://schemas.microsoft.com/office/drawing/2014/main" id="{E1AD127E-EF87-AECC-C4C6-37E54AC4A2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D77948E-AF17-FDEE-8F0D-CCEE8E717A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75" b="3"/>
          <a:stretch/>
        </p:blipFill>
        <p:spPr bwMode="auto">
          <a:xfrm>
            <a:off x="10118690" y="-580406"/>
            <a:ext cx="1925989" cy="218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034">
            <a:extLst>
              <a:ext uri="{FF2B5EF4-FFF2-40B4-BE49-F238E27FC236}">
                <a16:creationId xmlns:a16="http://schemas.microsoft.com/office/drawing/2014/main" id="{48F73410-F460-1E85-4D4F-9334134C0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9BC7AFA9-4307-5350-A549-157284519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C6056DA-CA52-1CF6-9976-30AEB82CA99F}"/>
              </a:ext>
            </a:extLst>
          </p:cNvPr>
          <p:cNvSpPr txBox="1"/>
          <p:nvPr/>
        </p:nvSpPr>
        <p:spPr>
          <a:xfrm>
            <a:off x="331693" y="217458"/>
            <a:ext cx="6942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solidFill>
                  <a:schemeClr val="tx2"/>
                </a:solidFill>
                <a:latin typeface="+mj-lt"/>
              </a:rPr>
              <a:t>En Uygun Fiyatlı 10 İlçe</a:t>
            </a:r>
          </a:p>
        </p:txBody>
      </p:sp>
      <p:pic>
        <p:nvPicPr>
          <p:cNvPr id="3" name="Resim 2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5ECCC44-9B4C-EFA5-F96D-639C414FD4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528" y="1019691"/>
            <a:ext cx="10972822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707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FB37D-C6E9-CD93-A81E-0D3F89428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0">
            <a:extLst>
              <a:ext uri="{FF2B5EF4-FFF2-40B4-BE49-F238E27FC236}">
                <a16:creationId xmlns:a16="http://schemas.microsoft.com/office/drawing/2014/main" id="{8C0FB749-22CC-361C-3362-6E9650297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9" name="Rectangle 1032">
            <a:extLst>
              <a:ext uri="{FF2B5EF4-FFF2-40B4-BE49-F238E27FC236}">
                <a16:creationId xmlns:a16="http://schemas.microsoft.com/office/drawing/2014/main" id="{A85992DA-C641-4812-6B58-A1BD833C2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73BE18-6B2B-D2F2-4E5E-D1F69F3DC1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75" b="3"/>
          <a:stretch/>
        </p:blipFill>
        <p:spPr bwMode="auto">
          <a:xfrm>
            <a:off x="10118690" y="-580406"/>
            <a:ext cx="1925989" cy="218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034">
            <a:extLst>
              <a:ext uri="{FF2B5EF4-FFF2-40B4-BE49-F238E27FC236}">
                <a16:creationId xmlns:a16="http://schemas.microsoft.com/office/drawing/2014/main" id="{7D7132CE-F77F-740A-89D6-171B444C8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63CEA888-FB2D-BBDD-9090-AD271FAA7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1FEB9EF4-5BA2-B7FD-4AD1-2C3A69A559C6}"/>
              </a:ext>
            </a:extLst>
          </p:cNvPr>
          <p:cNvSpPr txBox="1"/>
          <p:nvPr/>
        </p:nvSpPr>
        <p:spPr>
          <a:xfrm>
            <a:off x="331693" y="217458"/>
            <a:ext cx="6942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solidFill>
                  <a:schemeClr val="tx2"/>
                </a:solidFill>
                <a:latin typeface="+mj-lt"/>
              </a:rPr>
              <a:t>Oda Sayısına Göre Fiyat Değişimi</a:t>
            </a:r>
          </a:p>
        </p:txBody>
      </p:sp>
      <p:pic>
        <p:nvPicPr>
          <p:cNvPr id="4" name="Resim 3" descr="metin, diyagram, ekran görüntüsü, pla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9D34811-C811-CE9C-3982-540A82FB40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5" t="6989" r="6796" b="2812"/>
          <a:stretch>
            <a:fillRect/>
          </a:stretch>
        </p:blipFill>
        <p:spPr>
          <a:xfrm>
            <a:off x="1317812" y="1600099"/>
            <a:ext cx="9893487" cy="5191978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0429157F-312E-9192-D305-BF965F856781}"/>
              </a:ext>
            </a:extLst>
          </p:cNvPr>
          <p:cNvSpPr txBox="1"/>
          <p:nvPr/>
        </p:nvSpPr>
        <p:spPr>
          <a:xfrm>
            <a:off x="331693" y="802233"/>
            <a:ext cx="115067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Oda sayısı arttıkça medyan fiyat artmaktadır. Ancak 4+1 ve üzeri dairelerde fiyat varyansı (makas) çok geniştir, çünkü bu kategoriye hem standart hem de ultra lüks daireler girmekte.</a:t>
            </a:r>
          </a:p>
        </p:txBody>
      </p:sp>
    </p:spTree>
    <p:extLst>
      <p:ext uri="{BB962C8B-B14F-4D97-AF65-F5344CB8AC3E}">
        <p14:creationId xmlns:p14="http://schemas.microsoft.com/office/powerpoint/2010/main" val="2782885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DDC592-3EC6-EE03-7CAA-1C677C789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0">
            <a:extLst>
              <a:ext uri="{FF2B5EF4-FFF2-40B4-BE49-F238E27FC236}">
                <a16:creationId xmlns:a16="http://schemas.microsoft.com/office/drawing/2014/main" id="{DD42A11C-0BBB-871C-2C1F-7F393A220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9" name="Rectangle 1032">
            <a:extLst>
              <a:ext uri="{FF2B5EF4-FFF2-40B4-BE49-F238E27FC236}">
                <a16:creationId xmlns:a16="http://schemas.microsoft.com/office/drawing/2014/main" id="{72181A92-267C-F229-4113-77DCFE028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CE58064-0F90-07F2-5545-351BC26D46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75" b="3"/>
          <a:stretch/>
        </p:blipFill>
        <p:spPr bwMode="auto">
          <a:xfrm>
            <a:off x="10118690" y="-580406"/>
            <a:ext cx="1925989" cy="218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034">
            <a:extLst>
              <a:ext uri="{FF2B5EF4-FFF2-40B4-BE49-F238E27FC236}">
                <a16:creationId xmlns:a16="http://schemas.microsoft.com/office/drawing/2014/main" id="{DC624CAE-1A4D-5E64-265C-A8A08A851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DFC0DAD1-952E-7749-63EB-81C7F49C7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34624A6C-9499-EA68-565A-20D55374269A}"/>
              </a:ext>
            </a:extLst>
          </p:cNvPr>
          <p:cNvSpPr txBox="1"/>
          <p:nvPr/>
        </p:nvSpPr>
        <p:spPr>
          <a:xfrm>
            <a:off x="331693" y="217458"/>
            <a:ext cx="85075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solidFill>
                  <a:schemeClr val="tx2"/>
                </a:solidFill>
                <a:latin typeface="+mj-lt"/>
              </a:rPr>
              <a:t>Metrekare Büyüklüğü ve Fiyat İlişkisi</a:t>
            </a:r>
          </a:p>
        </p:txBody>
      </p:sp>
      <p:pic>
        <p:nvPicPr>
          <p:cNvPr id="3" name="Resim 2" descr="diyagram, metin, çizgi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0A5A59B-E90D-FAA9-875C-B6B4060E7A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" t="10711" r="-82" b="-22"/>
          <a:stretch>
            <a:fillRect/>
          </a:stretch>
        </p:blipFill>
        <p:spPr>
          <a:xfrm>
            <a:off x="491104" y="1599029"/>
            <a:ext cx="10972822" cy="4899960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4A88378D-B29E-0C2C-2B11-2BB0BB4AC295}"/>
              </a:ext>
            </a:extLst>
          </p:cNvPr>
          <p:cNvSpPr txBox="1"/>
          <p:nvPr/>
        </p:nvSpPr>
        <p:spPr>
          <a:xfrm>
            <a:off x="491104" y="902543"/>
            <a:ext cx="108149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Ev büyüklüğü ile fiyat arasında beklenen doğrusal bir ilişki vardır. Ancak bazı küçük m²'li evlerin çok pahalı olması, konumun önemini vurgulamakta.</a:t>
            </a:r>
          </a:p>
        </p:txBody>
      </p:sp>
    </p:spTree>
    <p:extLst>
      <p:ext uri="{BB962C8B-B14F-4D97-AF65-F5344CB8AC3E}">
        <p14:creationId xmlns:p14="http://schemas.microsoft.com/office/powerpoint/2010/main" val="103780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37492D-8698-DD7C-A6B9-F73988A58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0">
            <a:extLst>
              <a:ext uri="{FF2B5EF4-FFF2-40B4-BE49-F238E27FC236}">
                <a16:creationId xmlns:a16="http://schemas.microsoft.com/office/drawing/2014/main" id="{9B93A61B-D7D5-5170-9FB4-D9D2BBCF0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9" name="Rectangle 1032">
            <a:extLst>
              <a:ext uri="{FF2B5EF4-FFF2-40B4-BE49-F238E27FC236}">
                <a16:creationId xmlns:a16="http://schemas.microsoft.com/office/drawing/2014/main" id="{6964A3BE-EBFA-24B8-84E5-3CF353678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DBE7D4C-3C7C-4030-7070-18D30C40BF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75" b="3"/>
          <a:stretch/>
        </p:blipFill>
        <p:spPr bwMode="auto">
          <a:xfrm>
            <a:off x="10118690" y="-580406"/>
            <a:ext cx="1925989" cy="218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034">
            <a:extLst>
              <a:ext uri="{FF2B5EF4-FFF2-40B4-BE49-F238E27FC236}">
                <a16:creationId xmlns:a16="http://schemas.microsoft.com/office/drawing/2014/main" id="{1A82AF20-9290-368C-AFE5-FE4F4E7F3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0E353B6-454A-D959-4EF0-AA5796BCD8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BDF6264-BE76-E7E5-79D8-041F93BA1686}"/>
              </a:ext>
            </a:extLst>
          </p:cNvPr>
          <p:cNvSpPr txBox="1"/>
          <p:nvPr/>
        </p:nvSpPr>
        <p:spPr>
          <a:xfrm>
            <a:off x="331693" y="217458"/>
            <a:ext cx="85075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solidFill>
                  <a:schemeClr val="tx2"/>
                </a:solidFill>
                <a:latin typeface="+mj-lt"/>
              </a:rPr>
              <a:t>Bina Yaşına Göre Ortalama Fiyatlar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2D4C8A94-E6C0-D223-657E-FFFB9B55ABE0}"/>
              </a:ext>
            </a:extLst>
          </p:cNvPr>
          <p:cNvSpPr txBox="1"/>
          <p:nvPr/>
        </p:nvSpPr>
        <p:spPr>
          <a:xfrm>
            <a:off x="491104" y="902543"/>
            <a:ext cx="108149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Yeni binalar (0-5 yaş) en yüksek fiyata sahipken, 15-20 yaş arası binalarda fiyat düşmektedir. Çok eski binalarda ise (kentsel dönüşüm veya tarihi değer nedeniyle) fiyat tekrar yükselebilmektedir.</a:t>
            </a:r>
          </a:p>
        </p:txBody>
      </p:sp>
      <p:pic>
        <p:nvPicPr>
          <p:cNvPr id="4" name="Resim 3" descr="metin, ekran görüntüsü, diyagra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79A7B2E-E5D0-8B21-BB6C-D9E6762E14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80"/>
          <a:stretch>
            <a:fillRect/>
          </a:stretch>
        </p:blipFill>
        <p:spPr>
          <a:xfrm>
            <a:off x="491104" y="1700409"/>
            <a:ext cx="10972822" cy="5007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56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9E33FB-426B-59E3-2E2B-568E9F398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0">
            <a:extLst>
              <a:ext uri="{FF2B5EF4-FFF2-40B4-BE49-F238E27FC236}">
                <a16:creationId xmlns:a16="http://schemas.microsoft.com/office/drawing/2014/main" id="{1737CEE7-5DD9-3D58-D85D-F95357453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9" name="Rectangle 1032">
            <a:extLst>
              <a:ext uri="{FF2B5EF4-FFF2-40B4-BE49-F238E27FC236}">
                <a16:creationId xmlns:a16="http://schemas.microsoft.com/office/drawing/2014/main" id="{1D72ED6C-F859-FB15-C25B-2F4733D98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784E190-0D15-8BCE-D3D5-F9B74D16EE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75" b="3"/>
          <a:stretch/>
        </p:blipFill>
        <p:spPr bwMode="auto">
          <a:xfrm>
            <a:off x="10118690" y="-580406"/>
            <a:ext cx="1925989" cy="218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034">
            <a:extLst>
              <a:ext uri="{FF2B5EF4-FFF2-40B4-BE49-F238E27FC236}">
                <a16:creationId xmlns:a16="http://schemas.microsoft.com/office/drawing/2014/main" id="{3EC1E493-31EA-29FC-EB47-9E1771EBA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D617C008-F4BD-0E4C-B2A4-F1D7D8595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16947743-D6C6-2636-CD45-48D89EBB52FD}"/>
              </a:ext>
            </a:extLst>
          </p:cNvPr>
          <p:cNvSpPr txBox="1"/>
          <p:nvPr/>
        </p:nvSpPr>
        <p:spPr>
          <a:xfrm>
            <a:off x="331693" y="217458"/>
            <a:ext cx="85075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solidFill>
                  <a:schemeClr val="tx2"/>
                </a:solidFill>
                <a:latin typeface="+mj-lt"/>
              </a:rPr>
              <a:t>Kat Konumunun Fiyata Etkisi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5ED74741-DBC9-E3BA-A4B6-1CDEF63063E5}"/>
              </a:ext>
            </a:extLst>
          </p:cNvPr>
          <p:cNvSpPr txBox="1"/>
          <p:nvPr/>
        </p:nvSpPr>
        <p:spPr>
          <a:xfrm>
            <a:off x="491104" y="902543"/>
            <a:ext cx="108149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Ara katlar genellikle en değerli konumlardır. Giriş ve bodrum katların fiyat ortalaması belirgin şekilde düşüktür.</a:t>
            </a:r>
          </a:p>
        </p:txBody>
      </p:sp>
      <p:pic>
        <p:nvPicPr>
          <p:cNvPr id="3" name="Resim 2" descr="metin, ekran görüntüsü, diyagra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BB30E1A-C3B2-13B8-6E24-185D4B2BDC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10"/>
          <a:stretch>
            <a:fillRect/>
          </a:stretch>
        </p:blipFill>
        <p:spPr>
          <a:xfrm>
            <a:off x="491104" y="1686047"/>
            <a:ext cx="10972822" cy="509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114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9ED98A-E15C-962D-619D-B93D61095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0">
            <a:extLst>
              <a:ext uri="{FF2B5EF4-FFF2-40B4-BE49-F238E27FC236}">
                <a16:creationId xmlns:a16="http://schemas.microsoft.com/office/drawing/2014/main" id="{D2693E9B-404E-4A99-A76B-2B5B50CC4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9" name="Rectangle 1032">
            <a:extLst>
              <a:ext uri="{FF2B5EF4-FFF2-40B4-BE49-F238E27FC236}">
                <a16:creationId xmlns:a16="http://schemas.microsoft.com/office/drawing/2014/main" id="{6B242E77-BBA2-8989-6663-7611513A6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F4F13A2-A144-4619-A2C8-CF27D5BFDE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75" b="3"/>
          <a:stretch/>
        </p:blipFill>
        <p:spPr bwMode="auto">
          <a:xfrm>
            <a:off x="10118690" y="-580406"/>
            <a:ext cx="1925989" cy="218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034">
            <a:extLst>
              <a:ext uri="{FF2B5EF4-FFF2-40B4-BE49-F238E27FC236}">
                <a16:creationId xmlns:a16="http://schemas.microsoft.com/office/drawing/2014/main" id="{15C9BDC4-D228-C916-288C-341F51E58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D0A7FD63-4D9A-67F9-FAFA-43F295EE0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0351240F-C3FE-F7F4-86C3-9A5E8E10488E}"/>
              </a:ext>
            </a:extLst>
          </p:cNvPr>
          <p:cNvSpPr txBox="1"/>
          <p:nvPr/>
        </p:nvSpPr>
        <p:spPr>
          <a:xfrm>
            <a:off x="331693" y="217458"/>
            <a:ext cx="103006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solidFill>
                  <a:schemeClr val="tx2"/>
                </a:solidFill>
                <a:latin typeface="+mj-lt"/>
              </a:rPr>
              <a:t>Modele Göre Fiyatı En Çok Etkileyen Faktörler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0EC24014-D5AF-A45F-2554-D48EE67DE99C}"/>
              </a:ext>
            </a:extLst>
          </p:cNvPr>
          <p:cNvSpPr txBox="1"/>
          <p:nvPr/>
        </p:nvSpPr>
        <p:spPr>
          <a:xfrm>
            <a:off x="491104" y="902543"/>
            <a:ext cx="108149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Yapay zeka modelimiz (Random Forest), fiyatı belirlerken en çok </a:t>
            </a:r>
            <a:r>
              <a:rPr lang="tr-TR" b="1" dirty="0"/>
              <a:t>Konum</a:t>
            </a:r>
            <a:r>
              <a:rPr lang="tr-TR" dirty="0"/>
              <a:t>, </a:t>
            </a:r>
            <a:r>
              <a:rPr lang="tr-TR" b="1" dirty="0"/>
              <a:t>Metrekare, Kat ve Lüks Skoru Seviyesine</a:t>
            </a:r>
            <a:r>
              <a:rPr lang="tr-TR" dirty="0"/>
              <a:t> dikkat etmektedir.</a:t>
            </a:r>
          </a:p>
        </p:txBody>
      </p:sp>
      <p:pic>
        <p:nvPicPr>
          <p:cNvPr id="6" name="Resim 5" descr="metin, ekran görüntüsü, diyagram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932875B-89E6-B72B-F4A3-79EC9AB855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90" y="1649184"/>
            <a:ext cx="10166620" cy="508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52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8CA9F-7FA7-0A71-2775-E3A0366F8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0">
            <a:extLst>
              <a:ext uri="{FF2B5EF4-FFF2-40B4-BE49-F238E27FC236}">
                <a16:creationId xmlns:a16="http://schemas.microsoft.com/office/drawing/2014/main" id="{17E01232-DFD8-9E33-E376-6E8C1211F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9" name="Rectangle 1032">
            <a:extLst>
              <a:ext uri="{FF2B5EF4-FFF2-40B4-BE49-F238E27FC236}">
                <a16:creationId xmlns:a16="http://schemas.microsoft.com/office/drawing/2014/main" id="{C9D7D5A2-5328-3E2A-82B4-678A17711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57374A-3BAC-1E40-AF4B-C15112F72D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75" b="3"/>
          <a:stretch/>
        </p:blipFill>
        <p:spPr bwMode="auto">
          <a:xfrm>
            <a:off x="10118690" y="-580406"/>
            <a:ext cx="1925989" cy="218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034">
            <a:extLst>
              <a:ext uri="{FF2B5EF4-FFF2-40B4-BE49-F238E27FC236}">
                <a16:creationId xmlns:a16="http://schemas.microsoft.com/office/drawing/2014/main" id="{58255987-3794-F59C-BD4A-855BC63CD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11BCE16E-736A-B595-4A43-25462FE2A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6A63CEA7-5360-E35C-8412-7E2DF62AC219}"/>
              </a:ext>
            </a:extLst>
          </p:cNvPr>
          <p:cNvSpPr txBox="1"/>
          <p:nvPr/>
        </p:nvSpPr>
        <p:spPr>
          <a:xfrm>
            <a:off x="331693" y="217458"/>
            <a:ext cx="103006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solidFill>
                  <a:schemeClr val="tx2"/>
                </a:solidFill>
                <a:latin typeface="+mj-lt"/>
              </a:rPr>
              <a:t>Gerçek ve Tahmin Edilen Fiyatlar Karşılaştırması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81A295E6-EBBE-6EF4-25BD-3B65CDE69D85}"/>
              </a:ext>
            </a:extLst>
          </p:cNvPr>
          <p:cNvSpPr txBox="1"/>
          <p:nvPr/>
        </p:nvSpPr>
        <p:spPr>
          <a:xfrm>
            <a:off x="7038343" y="1260368"/>
            <a:ext cx="42866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Kırmızı çizgi mükemmel tahmini temsil eder. Noktaların bu çizgi etrafında toplanması, modelimizin gerçek fiyatlara çok yakın tahminler yaptığını kanıtlamaktadır.</a:t>
            </a:r>
          </a:p>
        </p:txBody>
      </p:sp>
      <p:pic>
        <p:nvPicPr>
          <p:cNvPr id="3" name="Resim 2" descr="öykü gelişim çizgisi; kumpas; grafiğini çıkarma, diyagram, metin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B6696FD-8DAA-FEB6-308B-00715273F5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2" b="4164"/>
          <a:stretch>
            <a:fillRect/>
          </a:stretch>
        </p:blipFill>
        <p:spPr>
          <a:xfrm>
            <a:off x="331679" y="912936"/>
            <a:ext cx="6294834" cy="5727606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0C7BC278-BE63-83CE-BD9B-369AC5EF5039}"/>
              </a:ext>
            </a:extLst>
          </p:cNvPr>
          <p:cNvSpPr txBox="1"/>
          <p:nvPr/>
        </p:nvSpPr>
        <p:spPr>
          <a:xfrm>
            <a:off x="7038343" y="3038075"/>
            <a:ext cx="42866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Bu grafik görsel olarak  </a:t>
            </a:r>
            <a:r>
              <a:rPr lang="tr-TR" b="1" dirty="0"/>
              <a:t>R </a:t>
            </a:r>
            <a:r>
              <a:rPr lang="tr-TR" b="1" baseline="30000" dirty="0"/>
              <a:t>2  </a:t>
            </a:r>
            <a:r>
              <a:rPr lang="tr-TR" dirty="0"/>
              <a:t>skorumuzun sağlamasını yapıyor. </a:t>
            </a:r>
          </a:p>
        </p:txBody>
      </p:sp>
    </p:spTree>
    <p:extLst>
      <p:ext uri="{BB962C8B-B14F-4D97-AF65-F5344CB8AC3E}">
        <p14:creationId xmlns:p14="http://schemas.microsoft.com/office/powerpoint/2010/main" val="2207658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1E1502-EB19-0707-93F8-9B88BABA4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0">
            <a:extLst>
              <a:ext uri="{FF2B5EF4-FFF2-40B4-BE49-F238E27FC236}">
                <a16:creationId xmlns:a16="http://schemas.microsoft.com/office/drawing/2014/main" id="{D5C277EE-7B0B-1F62-74EC-B3882A400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9" name="Rectangle 1032">
            <a:extLst>
              <a:ext uri="{FF2B5EF4-FFF2-40B4-BE49-F238E27FC236}">
                <a16:creationId xmlns:a16="http://schemas.microsoft.com/office/drawing/2014/main" id="{39C4321E-CE7B-D448-2BEB-8CF836151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3CA3741-4524-16F4-313B-D913DA8CB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75" b="3"/>
          <a:stretch/>
        </p:blipFill>
        <p:spPr bwMode="auto">
          <a:xfrm>
            <a:off x="10118690" y="-580406"/>
            <a:ext cx="1925989" cy="218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034">
            <a:extLst>
              <a:ext uri="{FF2B5EF4-FFF2-40B4-BE49-F238E27FC236}">
                <a16:creationId xmlns:a16="http://schemas.microsoft.com/office/drawing/2014/main" id="{74316CD0-61ED-5612-1589-C1FB4D82B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9AFD2EBE-80E6-3B79-0E4D-E2CA13D33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62821ECB-3D24-2AC9-6BB7-EF94B812DE23}"/>
              </a:ext>
            </a:extLst>
          </p:cNvPr>
          <p:cNvSpPr txBox="1"/>
          <p:nvPr/>
        </p:nvSpPr>
        <p:spPr>
          <a:xfrm>
            <a:off x="331693" y="217458"/>
            <a:ext cx="103006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solidFill>
                  <a:schemeClr val="tx2"/>
                </a:solidFill>
                <a:latin typeface="+mj-lt"/>
              </a:rPr>
              <a:t>Makine Öğrenmesi Yaklaşımı (Modelleme)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344C79DE-0866-5B4D-AE88-423EDDFE16CB}"/>
              </a:ext>
            </a:extLst>
          </p:cNvPr>
          <p:cNvSpPr txBox="1"/>
          <p:nvPr/>
        </p:nvSpPr>
        <p:spPr>
          <a:xfrm>
            <a:off x="412470" y="1078590"/>
            <a:ext cx="6606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/>
              <a:t>Projede tek bir hedef yerine iki farklı problem çözüldü: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8FEA088B-9CAE-C7B2-4598-56815D93FF41}"/>
              </a:ext>
            </a:extLst>
          </p:cNvPr>
          <p:cNvSpPr txBox="1"/>
          <p:nvPr/>
        </p:nvSpPr>
        <p:spPr>
          <a:xfrm>
            <a:off x="277999" y="1683837"/>
            <a:ext cx="104080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/>
              <a:t>Regresyon (Sayısal Tahmin): </a:t>
            </a:r>
            <a:r>
              <a:rPr lang="tr-TR" dirty="0"/>
              <a:t>Evin tam satış fiyatını (Örneğin: 5.2 Milyon TL) tahmin etmek için kullanıldı.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/>
              <a:t>Sınıflandırma (Kategorik Tahmin): </a:t>
            </a:r>
            <a:r>
              <a:rPr lang="tr-TR" dirty="0"/>
              <a:t>Evi "Ekonomik", "Standart" veya "Lüks" segmentine yerleştirmek için yapıldı. Veri setindeki ilanlar fiyatlarına göre sınıflandırıldı.</a:t>
            </a:r>
          </a:p>
        </p:txBody>
      </p:sp>
    </p:spTree>
    <p:extLst>
      <p:ext uri="{BB962C8B-B14F-4D97-AF65-F5344CB8AC3E}">
        <p14:creationId xmlns:p14="http://schemas.microsoft.com/office/powerpoint/2010/main" val="1011437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319895-B378-F6DB-BF68-05308ABCD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0">
            <a:extLst>
              <a:ext uri="{FF2B5EF4-FFF2-40B4-BE49-F238E27FC236}">
                <a16:creationId xmlns:a16="http://schemas.microsoft.com/office/drawing/2014/main" id="{69711A24-4B8C-7723-DA3C-8B2CE2608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9" name="Rectangle 1032">
            <a:extLst>
              <a:ext uri="{FF2B5EF4-FFF2-40B4-BE49-F238E27FC236}">
                <a16:creationId xmlns:a16="http://schemas.microsoft.com/office/drawing/2014/main" id="{C8466D4B-136D-FA0B-2892-E6DBAB1CA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020CEB-B988-84A4-D91A-6244FAB616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75" b="3"/>
          <a:stretch/>
        </p:blipFill>
        <p:spPr bwMode="auto">
          <a:xfrm>
            <a:off x="10118690" y="-580406"/>
            <a:ext cx="1925989" cy="218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034">
            <a:extLst>
              <a:ext uri="{FF2B5EF4-FFF2-40B4-BE49-F238E27FC236}">
                <a16:creationId xmlns:a16="http://schemas.microsoft.com/office/drawing/2014/main" id="{23D740B5-9C8D-A809-41EA-4CA8728ED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806970C0-BC92-1221-E37A-319234CB9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84185038-9001-D6BA-34B3-D60AAAB23778}"/>
              </a:ext>
            </a:extLst>
          </p:cNvPr>
          <p:cNvSpPr txBox="1"/>
          <p:nvPr/>
        </p:nvSpPr>
        <p:spPr>
          <a:xfrm>
            <a:off x="385386" y="509846"/>
            <a:ext cx="103006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solidFill>
                  <a:schemeClr val="tx2"/>
                </a:solidFill>
                <a:latin typeface="+mj-lt"/>
              </a:rPr>
              <a:t>Model Seçimi ve Kıyaslama (Benchmark):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75EE2EE7-8F65-CF2A-C574-56736F0F6261}"/>
              </a:ext>
            </a:extLst>
          </p:cNvPr>
          <p:cNvSpPr txBox="1"/>
          <p:nvPr/>
        </p:nvSpPr>
        <p:spPr>
          <a:xfrm>
            <a:off x="277999" y="1683837"/>
            <a:ext cx="10408026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100" dirty="0"/>
              <a:t>Önce referans olarak Linear Regression denendi. Başarı oranı %66.56’da kaldı.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2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100" dirty="0"/>
              <a:t>Daha sonra emlak verilerindeki doğrusal olmayan ilişkileri (Örn: Lüks özelliklerin fiyata katlanarak etkisi) karar ağaçları yapısıyla çok daha iyi modellediği için </a:t>
            </a:r>
            <a:r>
              <a:rPr lang="tr-TR" sz="2100" b="1" dirty="0"/>
              <a:t>Random Forest </a:t>
            </a:r>
            <a:r>
              <a:rPr lang="tr-TR" sz="2100" dirty="0"/>
              <a:t>algoritmasını kullandık. Başarı oranı %81,88’e çıktı.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2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100" dirty="0"/>
              <a:t>Modelin ezberlemesini önlemek için(Overfitting) veriyi %80 eğitim, %20 test olarak ayırdık. Derinlik parametresi ayarlayarak modelin veriyi ezberlemesini engelledik.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100" dirty="0"/>
              <a:t>Hiperparametre ayarı olarak 100 karar ağacı ve maksimum derinliği 15 olarak ayarladık.</a:t>
            </a:r>
          </a:p>
        </p:txBody>
      </p:sp>
    </p:spTree>
    <p:extLst>
      <p:ext uri="{BB962C8B-B14F-4D97-AF65-F5344CB8AC3E}">
        <p14:creationId xmlns:p14="http://schemas.microsoft.com/office/powerpoint/2010/main" val="171639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25A295-A124-171D-C731-207058D7F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0">
            <a:extLst>
              <a:ext uri="{FF2B5EF4-FFF2-40B4-BE49-F238E27FC236}">
                <a16:creationId xmlns:a16="http://schemas.microsoft.com/office/drawing/2014/main" id="{01C6DA7D-D21E-5571-9CD6-94678AD3E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9" name="Rectangle 1032">
            <a:extLst>
              <a:ext uri="{FF2B5EF4-FFF2-40B4-BE49-F238E27FC236}">
                <a16:creationId xmlns:a16="http://schemas.microsoft.com/office/drawing/2014/main" id="{D9A25371-A630-403C-38FF-707F37E49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18454F-082C-496C-0EDE-A18098DD04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75" b="3"/>
          <a:stretch/>
        </p:blipFill>
        <p:spPr bwMode="auto">
          <a:xfrm>
            <a:off x="10118690" y="-580406"/>
            <a:ext cx="1925989" cy="218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034">
            <a:extLst>
              <a:ext uri="{FF2B5EF4-FFF2-40B4-BE49-F238E27FC236}">
                <a16:creationId xmlns:a16="http://schemas.microsoft.com/office/drawing/2014/main" id="{D2B29ABC-DD75-19E4-4FDA-595E04F88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B5FEF4B9-EB8A-6346-26D9-C6038F41F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27891FAD-1293-70D4-DF81-E27A65A0881D}"/>
              </a:ext>
            </a:extLst>
          </p:cNvPr>
          <p:cNvSpPr txBox="1"/>
          <p:nvPr/>
        </p:nvSpPr>
        <p:spPr>
          <a:xfrm>
            <a:off x="412280" y="249268"/>
            <a:ext cx="103006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solidFill>
                  <a:schemeClr val="tx2"/>
                </a:solidFill>
                <a:latin typeface="+mj-lt"/>
              </a:rPr>
              <a:t>Regresyon ve Sınıflandırma Başarısı</a:t>
            </a:r>
          </a:p>
        </p:txBody>
      </p:sp>
      <p:pic>
        <p:nvPicPr>
          <p:cNvPr id="3" name="Resim 2" descr="metin, yazı tipi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AA7A417-C6A0-B146-A8BF-417590542F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8" r="5285"/>
          <a:stretch>
            <a:fillRect/>
          </a:stretch>
        </p:blipFill>
        <p:spPr>
          <a:xfrm>
            <a:off x="330004" y="934775"/>
            <a:ext cx="11525870" cy="3187736"/>
          </a:xfrm>
          <a:prstGeom prst="rect">
            <a:avLst/>
          </a:prstGeom>
        </p:spPr>
      </p:pic>
      <p:graphicFrame>
        <p:nvGraphicFramePr>
          <p:cNvPr id="6" name="Tablo 5">
            <a:extLst>
              <a:ext uri="{FF2B5EF4-FFF2-40B4-BE49-F238E27FC236}">
                <a16:creationId xmlns:a16="http://schemas.microsoft.com/office/drawing/2014/main" id="{EBCBD96B-6F17-6236-D5D4-10CD1F1D2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615390"/>
              </p:ext>
            </p:extLst>
          </p:nvPr>
        </p:nvGraphicFramePr>
        <p:xfrm>
          <a:off x="6911789" y="4308613"/>
          <a:ext cx="4468516" cy="1365530"/>
        </p:xfrm>
        <a:graphic>
          <a:graphicData uri="http://schemas.openxmlformats.org/drawingml/2006/table">
            <a:tbl>
              <a:tblPr/>
              <a:tblGrid>
                <a:gridCol w="2234258">
                  <a:extLst>
                    <a:ext uri="{9D8B030D-6E8A-4147-A177-3AD203B41FA5}">
                      <a16:colId xmlns:a16="http://schemas.microsoft.com/office/drawing/2014/main" val="2688859977"/>
                    </a:ext>
                  </a:extLst>
                </a:gridCol>
                <a:gridCol w="2234258">
                  <a:extLst>
                    <a:ext uri="{9D8B030D-6E8A-4147-A177-3AD203B41FA5}">
                      <a16:colId xmlns:a16="http://schemas.microsoft.com/office/drawing/2014/main" val="3777007661"/>
                    </a:ext>
                  </a:extLst>
                </a:gridCol>
              </a:tblGrid>
              <a:tr h="23470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Accuracy</a:t>
                      </a:r>
                      <a:endParaRPr lang="tr-T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Genel doğru tahmin oranı.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7404"/>
                  </a:ext>
                </a:extLst>
              </a:tr>
              <a:tr h="36272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Precision</a:t>
                      </a:r>
                      <a:endParaRPr lang="tr-T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Pozitif tahminlerin doğruluk oranı.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325133"/>
                  </a:ext>
                </a:extLst>
              </a:tr>
              <a:tr h="36272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Recall</a:t>
                      </a:r>
                      <a:endParaRPr lang="tr-T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Gerçek pozitifleri yakalama oranı.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714364"/>
                  </a:ext>
                </a:extLst>
              </a:tr>
              <a:tr h="23470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F1 Skoru</a:t>
                      </a:r>
                      <a:endParaRPr lang="tr-T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Precision ve Recall ortalaması.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026392"/>
                  </a:ext>
                </a:extLst>
              </a:tr>
            </a:tbl>
          </a:graphicData>
        </a:graphic>
      </p:graphicFrame>
      <p:graphicFrame>
        <p:nvGraphicFramePr>
          <p:cNvPr id="7" name="Tablo 6">
            <a:extLst>
              <a:ext uri="{FF2B5EF4-FFF2-40B4-BE49-F238E27FC236}">
                <a16:creationId xmlns:a16="http://schemas.microsoft.com/office/drawing/2014/main" id="{8FF5CFEF-2372-A739-F5E3-0C64040AEE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966427"/>
              </p:ext>
            </p:extLst>
          </p:nvPr>
        </p:nvGraphicFramePr>
        <p:xfrm>
          <a:off x="519856" y="4308613"/>
          <a:ext cx="5383306" cy="1280160"/>
        </p:xfrm>
        <a:graphic>
          <a:graphicData uri="http://schemas.openxmlformats.org/drawingml/2006/table">
            <a:tbl>
              <a:tblPr/>
              <a:tblGrid>
                <a:gridCol w="2691653">
                  <a:extLst>
                    <a:ext uri="{9D8B030D-6E8A-4147-A177-3AD203B41FA5}">
                      <a16:colId xmlns:a16="http://schemas.microsoft.com/office/drawing/2014/main" val="1786494498"/>
                    </a:ext>
                  </a:extLst>
                </a:gridCol>
                <a:gridCol w="2691653">
                  <a:extLst>
                    <a:ext uri="{9D8B030D-6E8A-4147-A177-3AD203B41FA5}">
                      <a16:colId xmlns:a16="http://schemas.microsoft.com/office/drawing/2014/main" val="22371034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R^2 Skoru</a:t>
                      </a:r>
                      <a:endParaRPr lang="tr-T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Modelin açıklama gücü.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930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MAE</a:t>
                      </a:r>
                      <a:endParaRPr lang="tr-T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Ortalama TL sapması.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8637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MSE</a:t>
                      </a:r>
                      <a:endParaRPr lang="tr-TR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Hatanın karesinin ortalaması.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087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RMSE</a:t>
                      </a:r>
                      <a:endParaRPr lang="tr-TR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tr-TR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Büyük hataları içeren ortalama TL sapması.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616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195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649AFD-D82F-52CB-B50A-6CFC80B23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0">
            <a:extLst>
              <a:ext uri="{FF2B5EF4-FFF2-40B4-BE49-F238E27FC236}">
                <a16:creationId xmlns:a16="http://schemas.microsoft.com/office/drawing/2014/main" id="{EA2C51B3-A326-D7DC-E8C8-639FCF4D3B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9" name="Rectangle 1032">
            <a:extLst>
              <a:ext uri="{FF2B5EF4-FFF2-40B4-BE49-F238E27FC236}">
                <a16:creationId xmlns:a16="http://schemas.microsoft.com/office/drawing/2014/main" id="{154BD372-B04A-0C68-751A-7580634C2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192F715-0A15-A790-C7CF-1AAD4E981F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75" b="3"/>
          <a:stretch/>
        </p:blipFill>
        <p:spPr bwMode="auto">
          <a:xfrm>
            <a:off x="10118690" y="-580406"/>
            <a:ext cx="1925989" cy="218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034">
            <a:extLst>
              <a:ext uri="{FF2B5EF4-FFF2-40B4-BE49-F238E27FC236}">
                <a16:creationId xmlns:a16="http://schemas.microsoft.com/office/drawing/2014/main" id="{A10BBF4E-BA2F-57D2-58BC-15073515A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1FD7EE7A-1BF9-AAC1-17C2-E6A0E717B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132CBED7-7ACE-1440-B8CB-3F38834E8713}"/>
              </a:ext>
            </a:extLst>
          </p:cNvPr>
          <p:cNvSpPr txBox="1"/>
          <p:nvPr/>
        </p:nvSpPr>
        <p:spPr>
          <a:xfrm>
            <a:off x="412280" y="249268"/>
            <a:ext cx="103006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solidFill>
                  <a:schemeClr val="tx2"/>
                </a:solidFill>
                <a:latin typeface="+mj-lt"/>
              </a:rPr>
              <a:t>İleri Seviye Özellikler ve 2025 Vizyonu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A057A386-58FC-75B7-A9C3-721D3C033238}"/>
              </a:ext>
            </a:extLst>
          </p:cNvPr>
          <p:cNvSpPr txBox="1"/>
          <p:nvPr/>
        </p:nvSpPr>
        <p:spPr>
          <a:xfrm>
            <a:off x="304893" y="1083311"/>
            <a:ext cx="104080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tr-TR" b="1" dirty="0"/>
              <a:t>2025 Enflasyon Tahmini:</a:t>
            </a:r>
          </a:p>
          <a:p>
            <a:pPr lvl="1"/>
            <a:r>
              <a:rPr lang="tr-TR" dirty="0"/>
              <a:t>Enflasyon tahmini, 2020 ile 2025 yılları arasındaki Konut Fiyatları Endeksine bakılarak hesaplandı. Bu verilere göre İstanbul'da fiyatlarda yaklaşık 15-25 kat artış olduğunu gözlemledik. Bu artış oranı, kullanıcıların kendi tahminlerini yapabilmesi için bir ayar çubuğu olarak uygulamaya eklendi.</a:t>
            </a:r>
          </a:p>
          <a:p>
            <a:pPr lvl="1"/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E033A794-C6C9-1A72-DA61-59006B8E2C43}"/>
              </a:ext>
            </a:extLst>
          </p:cNvPr>
          <p:cNvSpPr txBox="1"/>
          <p:nvPr/>
        </p:nvSpPr>
        <p:spPr>
          <a:xfrm>
            <a:off x="301845" y="2652971"/>
            <a:ext cx="6864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 startAt="2"/>
            </a:pPr>
            <a:r>
              <a:rPr lang="tr-TR" b="1" dirty="0"/>
              <a:t>Yanlış Tahmin Müdahalesi: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954B5C6B-08DE-4D8E-682B-3DF7884A129F}"/>
              </a:ext>
            </a:extLst>
          </p:cNvPr>
          <p:cNvSpPr txBox="1"/>
          <p:nvPr/>
        </p:nvSpPr>
        <p:spPr>
          <a:xfrm>
            <a:off x="791136" y="2976136"/>
            <a:ext cx="104080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Veri setinde havuzlu ve otoparklı sitelerin genelde şehir çeperinde (daha ucuz bölgelerde) olması nedeniyle, model "Havuz = Ucuz Ev" şeklinde yanlış bir korelasyon kurarak havuz seçilen evi yanlış tahmin ediyordu. Bunu önlemek için yapay zeka çıktısına fiyatı %5 ile %10 arasında manuel artırarak tahmin doğruluğunu artırdık.  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BBF99999-5AFB-18AB-7B86-E7B8070EAFFD}"/>
              </a:ext>
            </a:extLst>
          </p:cNvPr>
          <p:cNvSpPr txBox="1"/>
          <p:nvPr/>
        </p:nvSpPr>
        <p:spPr>
          <a:xfrm>
            <a:off x="301845" y="4205646"/>
            <a:ext cx="6864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/>
              <a:t>3.   İnteraktif CBS Haritası: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78625F6B-490D-C4F5-DDD7-72B44E8A3125}"/>
              </a:ext>
            </a:extLst>
          </p:cNvPr>
          <p:cNvSpPr txBox="1"/>
          <p:nvPr/>
        </p:nvSpPr>
        <p:spPr>
          <a:xfrm>
            <a:off x="301845" y="4630473"/>
            <a:ext cx="9932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tr-TR" dirty="0"/>
              <a:t>İlçeler sadece isim olarak değil, coğrafi yoğunluk ve fiyat dağılımı olarak harita üzerinde analiz edildi.</a:t>
            </a:r>
          </a:p>
        </p:txBody>
      </p:sp>
    </p:spTree>
    <p:extLst>
      <p:ext uri="{BB962C8B-B14F-4D97-AF65-F5344CB8AC3E}">
        <p14:creationId xmlns:p14="http://schemas.microsoft.com/office/powerpoint/2010/main" val="2377298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lockprintVTI">
  <a:themeElements>
    <a:clrScheme name="Custom 69">
      <a:dk1>
        <a:sysClr val="windowText" lastClr="000000"/>
      </a:dk1>
      <a:lt1>
        <a:sysClr val="window" lastClr="FFFFFF"/>
      </a:lt1>
      <a:dk2>
        <a:srgbClr val="44131A"/>
      </a:dk2>
      <a:lt2>
        <a:srgbClr val="F2ECEA"/>
      </a:lt2>
      <a:accent1>
        <a:srgbClr val="A62C52"/>
      </a:accent1>
      <a:accent2>
        <a:srgbClr val="A7928D"/>
      </a:accent2>
      <a:accent3>
        <a:srgbClr val="307C71"/>
      </a:accent3>
      <a:accent4>
        <a:srgbClr val="41575D"/>
      </a:accent4>
      <a:accent5>
        <a:srgbClr val="8FA3A3"/>
      </a:accent5>
      <a:accent6>
        <a:srgbClr val="CA8370"/>
      </a:accent6>
      <a:hlink>
        <a:srgbClr val="D13D6E"/>
      </a:hlink>
      <a:folHlink>
        <a:srgbClr val="6C9D92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printVTI" id="{AA8C8908-6BA4-477C-AEA4-CB6C32A1FE3B}" vid="{36392749-7C1D-4938-93BB-440CD2A1B0AB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809</TotalTime>
  <Words>952</Words>
  <Application>Microsoft Office PowerPoint</Application>
  <PresentationFormat>Geniş ekran</PresentationFormat>
  <Paragraphs>90</Paragraphs>
  <Slides>20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6" baseType="lpstr">
      <vt:lpstr>Aptos</vt:lpstr>
      <vt:lpstr>Arial</vt:lpstr>
      <vt:lpstr>Avenir Next LT Pro</vt:lpstr>
      <vt:lpstr>AvenirNext LT Pro Medium</vt:lpstr>
      <vt:lpstr>Google Sans Text</vt:lpstr>
      <vt:lpstr>BlockprintVTI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EnesBurak Korkmaz</dc:creator>
  <cp:lastModifiedBy>EnesBurak Korkmaz</cp:lastModifiedBy>
  <cp:revision>17</cp:revision>
  <dcterms:created xsi:type="dcterms:W3CDTF">2024-11-30T20:42:57Z</dcterms:created>
  <dcterms:modified xsi:type="dcterms:W3CDTF">2025-12-16T11:07:47Z</dcterms:modified>
</cp:coreProperties>
</file>